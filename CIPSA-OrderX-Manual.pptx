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 los 5 pasos en orden. Cada tarjeta de producto muestra un semaforo de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Tocar el chip abre el modal de busqueda (con micrófono). Buscar por código, RUC/DNI completo o inicio del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Disponible vs pronto por llegar. Almacén mostrado es VES (principal).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chips afectan solo la línea de representer-vendedor; búsqueda libre muestra el universo completo (incl. descontinuados).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Carrito se reconcilia con el catálogo fresco en cada sincronización (precio, box, nombre, línea, EAN). Las cantidades nunca se pierden.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Footer del Excel lleva 'powered by G360' e isotipo 3 puntos + chevron. Metadatos (Author=CCUSI, Company=G360).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Documentación en README.md del repo. Supabase 500 (57014) se corrige aplicando docs/SQL_INDICE_CLIENTES.md.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Flujo de demo sugerido en vivo ~3 min. Cierre con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72009"/>
            <a:ext cx="670560" cy="508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2405231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>
                <a:solidFill>
                  <a:srgbClr val="0F172A"/>
                </a:solidFill>
              </a:rPr>
              <a:t>CIPSA OrderX</a:t>
            </a:r>
          </a:p>
        </p:txBody>
      </p:sp>
      <p:sp>
        <p:nvSpPr>
          <p:cNvPr id="4" name="slides-field:Subtitle"/>
          <p:cNvSpPr txBox="1"/>
          <p:nvPr/>
        </p:nvSpPr>
        <p:spPr>
          <a:xfrm>
            <a:off x="609600" y="395948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64748B"/>
                </a:solidFill>
              </a:rPr>
              <a:t>Tienda virtual de pedidos para la fuerza de ventas - v3.0.0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tatem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Statement"/>
          <p:cNvSpPr txBox="1"/>
          <p:nvPr/>
        </p:nvSpPr>
        <p:spPr>
          <a:xfrm>
            <a:off x="609600" y="1906524"/>
            <a:ext cx="109728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>
                <a:solidFill>
                  <a:srgbClr val="0F172A"/>
                </a:solidFill>
              </a:rPr>
              <a:t>De la fuerza de ventas a la hoja de pedido en 5 pasos, sin salir del navegador.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process:0"/>
          <p:cNvSpPr/>
          <p:nvPr/>
        </p:nvSpPr>
        <p:spPr>
          <a:xfrm>
            <a:off x="609600" y="2419598"/>
            <a:ext cx="203167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process:0"/>
          <p:cNvSpPr/>
          <p:nvPr/>
        </p:nvSpPr>
        <p:spPr>
          <a:xfrm>
            <a:off x="2844881" y="2419598"/>
            <a:ext cx="203167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process:0"/>
          <p:cNvSpPr/>
          <p:nvPr/>
        </p:nvSpPr>
        <p:spPr>
          <a:xfrm>
            <a:off x="5080162" y="2419598"/>
            <a:ext cx="203167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block:process:0"/>
          <p:cNvSpPr/>
          <p:nvPr/>
        </p:nvSpPr>
        <p:spPr>
          <a:xfrm>
            <a:off x="7315443" y="2419598"/>
            <a:ext cx="203167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s-block:process:0"/>
          <p:cNvSpPr/>
          <p:nvPr/>
        </p:nvSpPr>
        <p:spPr>
          <a:xfrm>
            <a:off x="9550724" y="2419598"/>
            <a:ext cx="2031676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s-block:process:0"/>
          <p:cNvSpPr/>
          <p:nvPr/>
        </p:nvSpPr>
        <p:spPr>
          <a:xfrm>
            <a:off x="2675209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s-block:process:0"/>
          <p:cNvSpPr/>
          <p:nvPr/>
        </p:nvSpPr>
        <p:spPr>
          <a:xfrm>
            <a:off x="4910490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s-block:process:0"/>
          <p:cNvSpPr/>
          <p:nvPr/>
        </p:nvSpPr>
        <p:spPr>
          <a:xfrm>
            <a:off x="7145771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s-block:process:0"/>
          <p:cNvSpPr/>
          <p:nvPr/>
        </p:nvSpPr>
        <p:spPr>
          <a:xfrm>
            <a:off x="9381052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El flujo completo</a:t>
            </a:r>
          </a:p>
        </p:txBody>
      </p:sp>
      <p:sp>
        <p:nvSpPr>
          <p:cNvPr id="12" name="slides-block:process:0"/>
          <p:cNvSpPr txBox="1"/>
          <p:nvPr/>
        </p:nvSpPr>
        <p:spPr>
          <a:xfrm>
            <a:off x="813206" y="2623204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1</a:t>
            </a:r>
          </a:p>
        </p:txBody>
      </p:sp>
      <p:sp>
        <p:nvSpPr>
          <p:cNvPr id="13" name="slides-block:process:0"/>
          <p:cNvSpPr txBox="1"/>
          <p:nvPr/>
        </p:nvSpPr>
        <p:spPr>
          <a:xfrm>
            <a:off x="813206" y="3324015"/>
            <a:ext cx="16244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Cargar cliente (chip en el header)</a:t>
            </a:r>
          </a:p>
        </p:txBody>
      </p:sp>
      <p:sp>
        <p:nvSpPr>
          <p:cNvPr id="14" name="slides-block:process:0"/>
          <p:cNvSpPr txBox="1"/>
          <p:nvPr/>
        </p:nvSpPr>
        <p:spPr>
          <a:xfrm>
            <a:off x="3048487" y="2623204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2</a:t>
            </a:r>
          </a:p>
        </p:txBody>
      </p:sp>
      <p:sp>
        <p:nvSpPr>
          <p:cNvPr id="15" name="slides-block:process:0"/>
          <p:cNvSpPr txBox="1"/>
          <p:nvPr/>
        </p:nvSpPr>
        <p:spPr>
          <a:xfrm>
            <a:off x="3048487" y="3324015"/>
            <a:ext cx="16244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Revisar stock del almacan VES</a:t>
            </a:r>
          </a:p>
        </p:txBody>
      </p:sp>
      <p:sp>
        <p:nvSpPr>
          <p:cNvPr id="16" name="slides-block:process:0"/>
          <p:cNvSpPr txBox="1"/>
          <p:nvPr/>
        </p:nvSpPr>
        <p:spPr>
          <a:xfrm>
            <a:off x="5283768" y="2623204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3</a:t>
            </a:r>
          </a:p>
        </p:txBody>
      </p:sp>
      <p:sp>
        <p:nvSpPr>
          <p:cNvPr id="17" name="slides-block:process:0"/>
          <p:cNvSpPr txBox="1"/>
          <p:nvPr/>
        </p:nvSpPr>
        <p:spPr>
          <a:xfrm>
            <a:off x="5283768" y="3324015"/>
            <a:ext cx="16244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Buscar y seleccionar productos</a:t>
            </a:r>
          </a:p>
        </p:txBody>
      </p:sp>
      <p:sp>
        <p:nvSpPr>
          <p:cNvPr id="18" name="slides-block:process:0"/>
          <p:cNvSpPr txBox="1"/>
          <p:nvPr/>
        </p:nvSpPr>
        <p:spPr>
          <a:xfrm>
            <a:off x="7519049" y="2623204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4</a:t>
            </a:r>
          </a:p>
        </p:txBody>
      </p:sp>
      <p:sp>
        <p:nvSpPr>
          <p:cNvPr id="19" name="slides-block:process:0"/>
          <p:cNvSpPr txBox="1"/>
          <p:nvPr/>
        </p:nvSpPr>
        <p:spPr>
          <a:xfrm>
            <a:off x="7519049" y="3324015"/>
            <a:ext cx="16244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Carrito y confirmacion</a:t>
            </a:r>
          </a:p>
        </p:txBody>
      </p:sp>
      <p:sp>
        <p:nvSpPr>
          <p:cNvPr id="20" name="slides-block:process:0"/>
          <p:cNvSpPr txBox="1"/>
          <p:nvPr/>
        </p:nvSpPr>
        <p:spPr>
          <a:xfrm>
            <a:off x="9754330" y="2623204"/>
            <a:ext cx="1624464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5</a:t>
            </a:r>
          </a:p>
        </p:txBody>
      </p:sp>
      <p:sp>
        <p:nvSpPr>
          <p:cNvPr id="21" name="slides-block:process:0"/>
          <p:cNvSpPr txBox="1"/>
          <p:nvPr/>
        </p:nvSpPr>
        <p:spPr>
          <a:xfrm>
            <a:off x="9754330" y="3324015"/>
            <a:ext cx="162446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Generar hoja de pedido (Excel)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wo-colum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0" y="1573884"/>
            <a:ext cx="0" cy="2468193"/>
          </a:xfrm>
          <a:prstGeom prst="bentConnector3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De planilla a tienda</a:t>
            </a:r>
          </a:p>
        </p:txBody>
      </p:sp>
      <p:sp>
        <p:nvSpPr>
          <p:cNvPr id="5" name="slides-field:Left"/>
          <p:cNvSpPr txBox="1"/>
          <p:nvPr/>
        </p:nvSpPr>
        <p:spPr>
          <a:xfrm>
            <a:off x="609600" y="1573884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Flor de datos estáticos (productos_local.json)</a:t>
            </a:r>
          </a:p>
        </p:txBody>
      </p:sp>
      <p:sp>
        <p:nvSpPr>
          <p:cNvPr id="6" name="slides-field:Left"/>
          <p:cNvSpPr txBox="1"/>
          <p:nvPr/>
        </p:nvSpPr>
        <p:spPr>
          <a:xfrm>
            <a:off x="609600" y="2396615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descarga por PRs update/stock-*</a:t>
            </a:r>
          </a:p>
        </p:txBody>
      </p:sp>
      <p:sp>
        <p:nvSpPr>
          <p:cNvPr id="7" name="slides-field:Left"/>
          <p:cNvSpPr txBox="1"/>
          <p:nvPr/>
        </p:nvSpPr>
        <p:spPr>
          <a:xfrm>
            <a:off x="609600" y="2853586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sin búsqueda de clientes viva</a:t>
            </a:r>
          </a:p>
        </p:txBody>
      </p:sp>
      <p:sp>
        <p:nvSpPr>
          <p:cNvPr id="8" name="slides-field:Left"/>
          <p:cNvSpPr txBox="1"/>
          <p:nvPr/>
        </p:nvSpPr>
        <p:spPr>
          <a:xfrm>
            <a:off x="609600" y="3310557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un solo botón exportar</a:t>
            </a:r>
          </a:p>
        </p:txBody>
      </p:sp>
      <p:sp>
        <p:nvSpPr>
          <p:cNvPr id="9" name="slides-field:Right"/>
          <p:cNvSpPr txBox="1"/>
          <p:nvPr/>
        </p:nvSpPr>
        <p:spPr>
          <a:xfrm>
            <a:off x="6197803" y="1573884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catálogo y stock en vivo (API Render)</a:t>
            </a:r>
          </a:p>
        </p:txBody>
      </p:sp>
      <p:sp>
        <p:nvSpPr>
          <p:cNvPr id="10" name="slides-field:Right"/>
          <p:cNvSpPr txBox="1"/>
          <p:nvPr/>
        </p:nvSpPr>
        <p:spPr>
          <a:xfrm>
            <a:off x="6197803" y="2396615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sincronización con una tecla</a:t>
            </a:r>
          </a:p>
        </p:txBody>
      </p:sp>
      <p:sp>
        <p:nvSpPr>
          <p:cNvPr id="11" name="slides-field:Right"/>
          <p:cNvSpPr txBox="1"/>
          <p:nvPr/>
        </p:nvSpPr>
        <p:spPr>
          <a:xfrm>
            <a:off x="6197803" y="2853586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búsqueda de clientes por código, RUC o nombre (Supabase)</a:t>
            </a:r>
          </a:p>
        </p:txBody>
      </p:sp>
      <p:sp>
        <p:nvSpPr>
          <p:cNvPr id="12" name="slides-field:Right"/>
          <p:cNvSpPr txBox="1"/>
          <p:nvPr/>
        </p:nvSpPr>
        <p:spPr>
          <a:xfrm>
            <a:off x="6197803" y="3676317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PWA instalable en el móviles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ec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0" y="548640"/>
            <a:ext cx="5486400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8800">
                <a:solidFill>
                  <a:srgbClr val="64748B"/>
                </a:solidFill>
              </a:rPr>
              <a:t>01</a:t>
            </a:r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2866644"/>
            <a:ext cx="6400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>
                <a:solidFill>
                  <a:srgbClr val="0F172A"/>
                </a:solidFill>
              </a:rPr>
              <a:t>01 - Cargar el cliente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1 - Cargar cliente</a:t>
            </a:r>
          </a:p>
        </p:txBody>
      </p:sp>
      <p:sp>
        <p:nvSpPr>
          <p:cNvPr id="3" name="slides-block:stat-row:0"/>
          <p:cNvSpPr txBox="1"/>
          <p:nvPr/>
        </p:nvSpPr>
        <p:spPr>
          <a:xfrm>
            <a:off x="609600" y="2657707"/>
            <a:ext cx="352186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>
                <a:solidFill>
                  <a:srgbClr val="475569"/>
                </a:solidFill>
              </a:rPr>
              <a:t>vacío</a:t>
            </a:r>
          </a:p>
        </p:txBody>
      </p:sp>
      <p:sp>
        <p:nvSpPr>
          <p:cNvPr id="4" name="slides-block:stat-row:0"/>
          <p:cNvSpPr txBox="1"/>
          <p:nvPr/>
        </p:nvSpPr>
        <p:spPr>
          <a:xfrm>
            <a:off x="609600" y="4211958"/>
            <a:ext cx="3521862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estado inicial (naranja)</a:t>
            </a:r>
          </a:p>
        </p:txBody>
      </p:sp>
      <p:sp>
        <p:nvSpPr>
          <p:cNvPr id="5" name="slides-block:stat-row:0"/>
          <p:cNvSpPr txBox="1"/>
          <p:nvPr/>
        </p:nvSpPr>
        <p:spPr>
          <a:xfrm>
            <a:off x="4335068" y="2657707"/>
            <a:ext cx="352186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>
                <a:solidFill>
                  <a:srgbClr val="475569"/>
                </a:solidFill>
              </a:rPr>
              <a:t>1</a:t>
            </a:r>
          </a:p>
        </p:txBody>
      </p:sp>
      <p:sp>
        <p:nvSpPr>
          <p:cNvPr id="6" name="slides-block:stat-row:0"/>
          <p:cNvSpPr txBox="1"/>
          <p:nvPr/>
        </p:nvSpPr>
        <p:spPr>
          <a:xfrm>
            <a:off x="4335068" y="4211958"/>
            <a:ext cx="3521862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chance 'Cargar cliente' al cambiar el encabezamiento</a:t>
            </a:r>
          </a:p>
        </p:txBody>
      </p:sp>
      <p:sp>
        <p:nvSpPr>
          <p:cNvPr id="7" name="slides-block:stat-row:0"/>
          <p:cNvSpPr txBox="1"/>
          <p:nvPr/>
        </p:nvSpPr>
        <p:spPr>
          <a:xfrm>
            <a:off x="8060536" y="2657707"/>
            <a:ext cx="352186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>
                <a:solidFill>
                  <a:srgbClr val="475569"/>
                </a:solidFill>
              </a:rPr>
              <a:t>3</a:t>
            </a:r>
          </a:p>
        </p:txBody>
      </p:sp>
      <p:sp>
        <p:nvSpPr>
          <p:cNvPr id="8" name="slides-block:stat-row:0"/>
          <p:cNvSpPr txBox="1"/>
          <p:nvPr/>
        </p:nvSpPr>
        <p:spPr>
          <a:xfrm>
            <a:off x="8060536" y="4211958"/>
            <a:ext cx="3521864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campos autocompletados (nombre, RUC, vendedor)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card-grid:0"/>
          <p:cNvSpPr/>
          <p:nvPr/>
        </p:nvSpPr>
        <p:spPr>
          <a:xfrm>
            <a:off x="609600" y="1747411"/>
            <a:ext cx="2590495" cy="40648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card-grid:0"/>
          <p:cNvSpPr/>
          <p:nvPr/>
        </p:nvSpPr>
        <p:spPr>
          <a:xfrm>
            <a:off x="3403701" y="1747411"/>
            <a:ext cx="2590495" cy="40648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card-grid:0"/>
          <p:cNvSpPr/>
          <p:nvPr/>
        </p:nvSpPr>
        <p:spPr>
          <a:xfrm>
            <a:off x="6197802" y="1747411"/>
            <a:ext cx="2590495" cy="40648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block:card-grid:0"/>
          <p:cNvSpPr/>
          <p:nvPr/>
        </p:nvSpPr>
        <p:spPr>
          <a:xfrm>
            <a:off x="8991903" y="1747411"/>
            <a:ext cx="2590497" cy="40648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2 - Revisar stock</a:t>
            </a:r>
          </a:p>
        </p:txBody>
      </p:sp>
      <p:sp>
        <p:nvSpPr>
          <p:cNvPr id="7" name="slides-block:card-grid:0"/>
          <p:cNvSpPr txBox="1"/>
          <p:nvPr/>
        </p:nvSpPr>
        <p:spPr>
          <a:xfrm>
            <a:off x="813206" y="1951017"/>
            <a:ext cx="2183283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AGOTADO: gris, deshabilitado</a:t>
            </a:r>
          </a:p>
        </p:txBody>
      </p:sp>
      <p:sp>
        <p:nvSpPr>
          <p:cNvPr id="8" name="slides-block:card-grid:0"/>
          <p:cNvSpPr txBox="1"/>
          <p:nvPr/>
        </p:nvSpPr>
        <p:spPr>
          <a:xfrm>
            <a:off x="3607307" y="1951017"/>
            <a:ext cx="2183283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BAJO: ambar #d97706</a:t>
            </a:r>
          </a:p>
        </p:txBody>
      </p:sp>
      <p:sp>
        <p:nvSpPr>
          <p:cNvPr id="9" name="slides-block:card-grid:0"/>
          <p:cNvSpPr txBox="1"/>
          <p:nvPr/>
        </p:nvSpPr>
        <p:spPr>
          <a:xfrm>
            <a:off x="6401408" y="1951017"/>
            <a:ext cx="2183283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OK: verde #059669</a:t>
            </a:r>
          </a:p>
        </p:txBody>
      </p:sp>
      <p:sp>
        <p:nvSpPr>
          <p:cNvPr id="10" name="slides-block:card-grid:0"/>
          <p:cNvSpPr txBox="1"/>
          <p:nvPr/>
        </p:nvSpPr>
        <p:spPr>
          <a:xfrm>
            <a:off x="9195509" y="1951017"/>
            <a:ext cx="218328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Tocar nombre: stock, cajas, box y precio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3 - Buscar y filtrar</a:t>
            </a:r>
          </a:p>
        </p:txBody>
      </p:sp>
      <p:sp>
        <p:nvSpPr>
          <p:cNvPr id="3" name="slides-block:icon-list:0"/>
          <p:cNvSpPr txBox="1"/>
          <p:nvPr/>
        </p:nvSpPr>
        <p:spPr>
          <a:xfrm>
            <a:off x="1178966" y="2799633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Buscador global + micrófono (voz es-PE)</a:t>
            </a:r>
          </a:p>
        </p:txBody>
      </p:sp>
      <p:sp>
        <p:nvSpPr>
          <p:cNvPr id="4" name="slides-block:icon-list:0"/>
          <p:cNvSpPr txBox="1"/>
          <p:nvPr/>
        </p:nvSpPr>
        <p:spPr>
          <a:xfrm>
            <a:off x="1178966" y="3256604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Código, RUC completo o inicio del nombre</a:t>
            </a:r>
          </a:p>
        </p:txBody>
      </p:sp>
      <p:sp>
        <p:nvSpPr>
          <p:cNvPr id="5" name="slides-block:icon-list:0"/>
          <p:cNvSpPr txBox="1"/>
          <p:nvPr/>
        </p:nvSpPr>
        <p:spPr>
          <a:xfrm>
            <a:off x="1178966" y="3713575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Chips Viniball, Vinifan, Representadas, Búsqueda</a:t>
            </a:r>
          </a:p>
        </p:txBody>
      </p:sp>
      <p:sp>
        <p:nvSpPr>
          <p:cNvPr id="6" name="slides-block:icon-list:0"/>
          <p:cNvSpPr txBox="1"/>
          <p:nvPr/>
        </p:nvSpPr>
        <p:spPr>
          <a:xfrm>
            <a:off x="1178966" y="4170546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Resultados paginados, 24 por página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process:0"/>
          <p:cNvSpPr/>
          <p:nvPr/>
        </p:nvSpPr>
        <p:spPr>
          <a:xfrm>
            <a:off x="609600" y="2419598"/>
            <a:ext cx="259049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process:0"/>
          <p:cNvSpPr/>
          <p:nvPr/>
        </p:nvSpPr>
        <p:spPr>
          <a:xfrm>
            <a:off x="3403701" y="2419598"/>
            <a:ext cx="259049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process:0"/>
          <p:cNvSpPr/>
          <p:nvPr/>
        </p:nvSpPr>
        <p:spPr>
          <a:xfrm>
            <a:off x="6197802" y="2419598"/>
            <a:ext cx="259049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block:process:0"/>
          <p:cNvSpPr/>
          <p:nvPr/>
        </p:nvSpPr>
        <p:spPr>
          <a:xfrm>
            <a:off x="8991903" y="2419598"/>
            <a:ext cx="2590497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s-block:process:0"/>
          <p:cNvSpPr/>
          <p:nvPr/>
        </p:nvSpPr>
        <p:spPr>
          <a:xfrm>
            <a:off x="3234029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s-block:process:0"/>
          <p:cNvSpPr/>
          <p:nvPr/>
        </p:nvSpPr>
        <p:spPr>
          <a:xfrm>
            <a:off x="6028130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s-block:process:0"/>
          <p:cNvSpPr/>
          <p:nvPr/>
        </p:nvSpPr>
        <p:spPr>
          <a:xfrm>
            <a:off x="8822231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4 - Cantidad y carrito</a:t>
            </a:r>
          </a:p>
        </p:txBody>
      </p:sp>
      <p:sp>
        <p:nvSpPr>
          <p:cNvPr id="10" name="slides-block:process:0"/>
          <p:cNvSpPr txBox="1"/>
          <p:nvPr/>
        </p:nvSpPr>
        <p:spPr>
          <a:xfrm>
            <a:off x="813206" y="2623204"/>
            <a:ext cx="218328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1</a:t>
            </a:r>
          </a:p>
        </p:txBody>
      </p:sp>
      <p:sp>
        <p:nvSpPr>
          <p:cNvPr id="11" name="slides-block:process:0"/>
          <p:cNvSpPr txBox="1"/>
          <p:nvPr/>
        </p:nvSpPr>
        <p:spPr>
          <a:xfrm>
            <a:off x="813206" y="3324015"/>
            <a:ext cx="218328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Stepper +/- unidades</a:t>
            </a:r>
          </a:p>
        </p:txBody>
      </p:sp>
      <p:sp>
        <p:nvSpPr>
          <p:cNvPr id="12" name="slides-block:process:0"/>
          <p:cNvSpPr txBox="1"/>
          <p:nvPr/>
        </p:nvSpPr>
        <p:spPr>
          <a:xfrm>
            <a:off x="3607307" y="2623204"/>
            <a:ext cx="218328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2</a:t>
            </a:r>
          </a:p>
        </p:txBody>
      </p:sp>
      <p:sp>
        <p:nvSpPr>
          <p:cNvPr id="13" name="slides-block:process:0"/>
          <p:cNvSpPr txBox="1"/>
          <p:nvPr/>
        </p:nvSpPr>
        <p:spPr>
          <a:xfrm>
            <a:off x="3607307" y="3324015"/>
            <a:ext cx="218328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Botón '+1 Box' (multiplica box size)</a:t>
            </a:r>
          </a:p>
        </p:txBody>
      </p:sp>
      <p:sp>
        <p:nvSpPr>
          <p:cNvPr id="14" name="slides-block:process:0"/>
          <p:cNvSpPr txBox="1"/>
          <p:nvPr/>
        </p:nvSpPr>
        <p:spPr>
          <a:xfrm>
            <a:off x="6401408" y="2623204"/>
            <a:ext cx="218328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3</a:t>
            </a:r>
          </a:p>
        </p:txBody>
      </p:sp>
      <p:sp>
        <p:nvSpPr>
          <p:cNvPr id="15" name="slides-block:process:0"/>
          <p:cNvSpPr txBox="1"/>
          <p:nvPr/>
        </p:nvSpPr>
        <p:spPr>
          <a:xfrm>
            <a:off x="6401408" y="3324015"/>
            <a:ext cx="218328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🛒 FAB con contador</a:t>
            </a:r>
          </a:p>
        </p:txBody>
      </p:sp>
      <p:sp>
        <p:nvSpPr>
          <p:cNvPr id="16" name="slides-block:process:0"/>
          <p:cNvSpPr txBox="1"/>
          <p:nvPr/>
        </p:nvSpPr>
        <p:spPr>
          <a:xfrm>
            <a:off x="9195509" y="2623204"/>
            <a:ext cx="2183285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4</a:t>
            </a:r>
          </a:p>
        </p:txBody>
      </p:sp>
      <p:sp>
        <p:nvSpPr>
          <p:cNvPr id="17" name="slides-block:process:0"/>
          <p:cNvSpPr txBox="1"/>
          <p:nvPr/>
        </p:nvSpPr>
        <p:spPr>
          <a:xfrm>
            <a:off x="9195509" y="3324015"/>
            <a:ext cx="218328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Drawer con totales y chip del cliente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5 - Hoja de pedido</a:t>
            </a:r>
          </a:p>
        </p:txBody>
      </p:sp>
      <p:sp>
        <p:nvSpPr>
          <p:cNvPr id="3" name="slides-block:stat-row:0"/>
          <p:cNvSpPr txBox="1"/>
          <p:nvPr/>
        </p:nvSpPr>
        <p:spPr>
          <a:xfrm>
            <a:off x="609600" y="2904595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475569"/>
                </a:solidFill>
              </a:rPr>
              <a:t>5</a:t>
            </a:r>
          </a:p>
        </p:txBody>
      </p:sp>
      <p:sp>
        <p:nvSpPr>
          <p:cNvPr id="4" name="slides-block:stat-row:0"/>
          <p:cNvSpPr txBox="1"/>
          <p:nvPr/>
        </p:nvSpPr>
        <p:spPr>
          <a:xfrm>
            <a:off x="609600" y="3910206"/>
            <a:ext cx="2590495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pasos de extremo a extremo</a:t>
            </a:r>
          </a:p>
        </p:txBody>
      </p:sp>
      <p:sp>
        <p:nvSpPr>
          <p:cNvPr id="5" name="slides-block:stat-row:0"/>
          <p:cNvSpPr txBox="1"/>
          <p:nvPr/>
        </p:nvSpPr>
        <p:spPr>
          <a:xfrm>
            <a:off x="3403701" y="2904595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475569"/>
                </a:solidFill>
              </a:rPr>
              <a:t>Excel</a:t>
            </a:r>
          </a:p>
        </p:txBody>
      </p:sp>
      <p:sp>
        <p:nvSpPr>
          <p:cNvPr id="6" name="slides-block:stat-row:0"/>
          <p:cNvSpPr txBox="1"/>
          <p:nvPr/>
        </p:nvSpPr>
        <p:spPr>
          <a:xfrm>
            <a:off x="3403701" y="3910206"/>
            <a:ext cx="2590495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exportación generada (xlsx)</a:t>
            </a:r>
          </a:p>
        </p:txBody>
      </p:sp>
      <p:sp>
        <p:nvSpPr>
          <p:cNvPr id="7" name="slides-block:stat-row:0"/>
          <p:cNvSpPr txBox="1"/>
          <p:nvPr/>
        </p:nvSpPr>
        <p:spPr>
          <a:xfrm>
            <a:off x="6197802" y="2904595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475569"/>
                </a:solidFill>
              </a:rPr>
              <a:t>Email</a:t>
            </a:r>
          </a:p>
        </p:txBody>
      </p:sp>
      <p:sp>
        <p:nvSpPr>
          <p:cNvPr id="8" name="slides-block:stat-row:0"/>
          <p:cNvSpPr txBox="1"/>
          <p:nvPr/>
        </p:nvSpPr>
        <p:spPr>
          <a:xfrm>
            <a:off x="6197802" y="3910206"/>
            <a:ext cx="2590495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alternativa por correo (mailto)</a:t>
            </a:r>
          </a:p>
        </p:txBody>
      </p:sp>
      <p:sp>
        <p:nvSpPr>
          <p:cNvPr id="9" name="slides-block:stat-row:0"/>
          <p:cNvSpPr txBox="1"/>
          <p:nvPr/>
        </p:nvSpPr>
        <p:spPr>
          <a:xfrm>
            <a:off x="8991903" y="2904595"/>
            <a:ext cx="259049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475569"/>
                </a:solidFill>
              </a:rPr>
              <a:t>8</a:t>
            </a:r>
          </a:p>
        </p:txBody>
      </p:sp>
      <p:sp>
        <p:nvSpPr>
          <p:cNvPr id="10" name="slides-block:stat-row:0"/>
          <p:cNvSpPr txBox="1"/>
          <p:nvPr/>
        </p:nvSpPr>
        <p:spPr>
          <a:xfrm>
            <a:off x="8991903" y="3910206"/>
            <a:ext cx="2590497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columnas en la hoja final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wo-colum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0" y="1573884"/>
            <a:ext cx="0" cy="2468193"/>
          </a:xfrm>
          <a:prstGeom prst="bentConnector3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Datos y sincronización</a:t>
            </a:r>
          </a:p>
        </p:txBody>
      </p:sp>
      <p:sp>
        <p:nvSpPr>
          <p:cNvPr id="5" name="slides-field:Left"/>
          <p:cNvSpPr txBox="1"/>
          <p:nvPr/>
        </p:nvSpPr>
        <p:spPr>
          <a:xfrm>
            <a:off x="609600" y="1573884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Stock + catálogo: API Render vivo</a:t>
            </a:r>
          </a:p>
        </p:txBody>
      </p:sp>
      <p:sp>
        <p:nvSpPr>
          <p:cNvPr id="6" name="slides-field:Left"/>
          <p:cNvSpPr txBox="1"/>
          <p:nvPr/>
        </p:nvSpPr>
        <p:spPr>
          <a:xfrm>
            <a:off x="609600" y="2030855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Clientes/vendedores: Supabase PostgREST</a:t>
            </a:r>
          </a:p>
        </p:txBody>
      </p:sp>
      <p:sp>
        <p:nvSpPr>
          <p:cNvPr id="7" name="slides-field:Left"/>
          <p:cNvSpPr txBox="1"/>
          <p:nvPr/>
        </p:nvSpPr>
        <p:spPr>
          <a:xfrm>
            <a:off x="609600" y="2853586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Autocache 3 capas, probe ?limit=1</a:t>
            </a:r>
          </a:p>
        </p:txBody>
      </p:sp>
      <p:sp>
        <p:nvSpPr>
          <p:cNvPr id="8" name="slides-field:Left"/>
          <p:cNvSpPr txBox="1"/>
          <p:nvPr/>
        </p:nvSpPr>
        <p:spPr>
          <a:xfrm>
            <a:off x="609600" y="3310557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Badge frescura: verde/amarillo/rojo/offline</a:t>
            </a:r>
          </a:p>
        </p:txBody>
      </p:sp>
      <p:sp>
        <p:nvSpPr>
          <p:cNvPr id="9" name="slides-field:Right"/>
          <p:cNvSpPr txBox="1"/>
          <p:nvPr/>
        </p:nvSpPr>
        <p:spPr>
          <a:xfrm>
            <a:off x="6197803" y="1573884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'Sincronizar' refresca todo</a:t>
            </a:r>
          </a:p>
        </p:txBody>
      </p:sp>
      <p:sp>
        <p:nvSpPr>
          <p:cNvPr id="10" name="slides-field:Right"/>
          <p:cNvSpPr txBox="1"/>
          <p:nvPr/>
        </p:nvSpPr>
        <p:spPr>
          <a:xfrm>
            <a:off x="6197803" y="2030855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Fuera de L-Sa 07-23 no polling</a:t>
            </a:r>
          </a:p>
        </p:txBody>
      </p:sp>
      <p:sp>
        <p:nvSpPr>
          <p:cNvPr id="11" name="slides-field:Right"/>
          <p:cNvSpPr txBox="1"/>
          <p:nvPr/>
        </p:nvSpPr>
        <p:spPr>
          <a:xfrm>
            <a:off x="6197803" y="2487826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Cold start Render: 30-90 s (reintento automático)</a:t>
            </a:r>
          </a:p>
        </p:txBody>
      </p:sp>
      <p:sp>
        <p:nvSpPr>
          <p:cNvPr id="12" name="slides-field:Right"/>
          <p:cNvSpPr txBox="1"/>
          <p:nvPr/>
        </p:nvSpPr>
        <p:spPr>
          <a:xfrm>
            <a:off x="6197803" y="3310557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Base solo se cachea en memoria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Adicionales v3</a:t>
            </a:r>
          </a:p>
        </p:txBody>
      </p:sp>
      <p:sp>
        <p:nvSpPr>
          <p:cNvPr id="3" name="slides-block:icon-list:0"/>
          <p:cNvSpPr txBox="1"/>
          <p:nvPr/>
        </p:nvSpPr>
        <p:spPr>
          <a:xfrm>
            <a:off x="1178966" y="2593996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PWA instalable (manifest, theme #0f172a)</a:t>
            </a:r>
          </a:p>
        </p:txBody>
      </p:sp>
      <p:sp>
        <p:nvSpPr>
          <p:cNvPr id="4" name="slides-block:icon-list:0"/>
          <p:cNvSpPr txBox="1"/>
          <p:nvPr/>
        </p:nvSpPr>
        <p:spPr>
          <a:xfrm>
            <a:off x="1178966" y="3050967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Búsqueda por voz es-PE (Chrome)</a:t>
            </a:r>
          </a:p>
        </p:txBody>
      </p:sp>
      <p:sp>
        <p:nvSpPr>
          <p:cNvPr id="5" name="slides-block:icon-list:0"/>
          <p:cNvSpPr txBox="1"/>
          <p:nvPr/>
        </p:nvSpPr>
        <p:spPr>
          <a:xfrm>
            <a:off x="1178966" y="3507938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Responsive móvil + desktop</a:t>
            </a:r>
          </a:p>
        </p:txBody>
      </p:sp>
      <p:sp>
        <p:nvSpPr>
          <p:cNvPr id="6" name="slides-block:icon-list:0"/>
          <p:cNvSpPr txBox="1"/>
          <p:nvPr/>
        </p:nvSpPr>
        <p:spPr>
          <a:xfrm>
            <a:off x="1178966" y="3964909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Tema claro/oscuro</a:t>
            </a:r>
          </a:p>
        </p:txBody>
      </p:sp>
      <p:sp>
        <p:nvSpPr>
          <p:cNvPr id="7" name="slides-block:icon-list:0"/>
          <p:cNvSpPr txBox="1"/>
          <p:nvPr/>
        </p:nvSpPr>
        <p:spPr>
          <a:xfrm>
            <a:off x="1178966" y="4421880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Rutas /catalogo y /orden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ec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0" y="548640"/>
            <a:ext cx="5486400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880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2866644"/>
            <a:ext cx="6400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>
                <a:solidFill>
                  <a:srgbClr val="0F172A"/>
                </a:solidFill>
              </a:rPr>
              <a:t>02 - Soporte y créditos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Créditos</a:t>
            </a:r>
          </a:p>
        </p:txBody>
      </p:sp>
      <p:sp>
        <p:nvSpPr>
          <p:cNvPr id="3" name="slides-block:icon-list:0"/>
          <p:cNvSpPr txBox="1"/>
          <p:nvPr/>
        </p:nvSpPr>
        <p:spPr>
          <a:xfrm>
            <a:off x="1178966" y="2799633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CIPSA: base del ERP (stock, 482.791 filas)</a:t>
            </a:r>
          </a:p>
        </p:txBody>
      </p:sp>
      <p:sp>
        <p:nvSpPr>
          <p:cNvPr id="4" name="slides-block:icon-list:0"/>
          <p:cNvSpPr txBox="1"/>
          <p:nvPr/>
        </p:nvSpPr>
        <p:spPr>
          <a:xfrm>
            <a:off x="1178966" y="3256604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Desarrollador: CCUSI (CCUSI)</a:t>
            </a:r>
          </a:p>
        </p:txBody>
      </p:sp>
      <p:sp>
        <p:nvSpPr>
          <p:cNvPr id="5" name="slides-block:icon-list:0"/>
          <p:cNvSpPr txBox="1"/>
          <p:nvPr/>
        </p:nvSpPr>
        <p:spPr>
          <a:xfrm>
            <a:off x="1178966" y="3713575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Ecosistema g360-order-form over G360</a:t>
            </a:r>
          </a:p>
        </p:txBody>
      </p:sp>
      <p:sp>
        <p:nvSpPr>
          <p:cNvPr id="6" name="slides-block:icon-list:0"/>
          <p:cNvSpPr txBox="1"/>
          <p:nvPr/>
        </p:nvSpPr>
        <p:spPr>
          <a:xfrm>
            <a:off x="1178966" y="4170546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Hoja de pedido/Excel: CCUSI / G360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tatem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Statement"/>
          <p:cNvSpPr txBox="1"/>
          <p:nvPr/>
        </p:nvSpPr>
        <p:spPr>
          <a:xfrm>
            <a:off x="609600" y="2318004"/>
            <a:ext cx="10972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>
                <a:solidFill>
                  <a:srgbClr val="0F172A"/>
                </a:solidFill>
              </a:rPr>
              <a:t>Practica mas tarde: carga un cliente, sincroniza el stock, genera una hoja de pedido.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F172A"/>
      </a:accent1>
      <a:accent2>
        <a:srgbClr val="F8FAFC"/>
      </a:accent2>
      <a:accent3>
        <a:srgbClr val="FFFFFF"/>
      </a:accent3>
      <a:accent4>
        <a:srgbClr val="475569"/>
      </a:accent4>
      <a:accent5>
        <a:srgbClr val="64748B"/>
      </a:accent5>
      <a:accent6>
        <a:srgbClr val="DC2626"/>
      </a:accent6>
      <a:hlink>
        <a:srgbClr val="0000FF"/>
      </a:hlink>
      <a:folHlink>
        <a:srgbClr val="800080"/>
      </a:folHlink>
    </a:clrScheme>
    <a:fontScheme name="Office">
      <a:majorFont>
        <a:latin typeface="Outfi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slides-spec: CIPSA-OrderX-Manual.deck.md sha256:81248d00930e6c770a3dc22c413a9d2ca46e8a47d0e03859687bc0171be1a7a7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